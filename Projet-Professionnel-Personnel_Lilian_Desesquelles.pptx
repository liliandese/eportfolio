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27.png" ContentType="image/png"/>
  <Override PartName="/ppt/media/image3.png" ContentType="image/png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media/image25.png" ContentType="image/png"/>
  <Override PartName="/ppt/slideLayouts/_rels/slideLayout9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87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</p:sld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déplacer la diapo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2000" spc="-1" strike="noStrike">
                <a:latin typeface="Arial"/>
              </a:rPr>
              <a:t>Cliquez pour modifier le format des notes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1400" spc="-1" strike="noStrike">
                <a:latin typeface="Times New Roman"/>
              </a:rPr>
              <a:t>&lt;en-tête&gt;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33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33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49D5DE8-7C88-4A93-95AF-EC9097367301}" type="slidenum">
              <a:rPr b="0" lang="fr-FR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11B0D6C-74EF-4A27-B907-91ACD2CAA103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9855DBF-8CCF-422E-82F6-24FBAAEA26D4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420B2FC-452D-439A-8A0F-EF363D791220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9FE014E-25E9-42BA-87D8-39B15D7C1589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7670294-6433-412A-9721-ABA55BE2F630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C723A9-C444-4D44-8A5F-33BDF5250BE1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FD9A4B0-B129-4D46-8017-1AE7BBC008FB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73C6D91-3000-4FB7-B1C7-FDB7A1207B01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1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4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5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9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6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ubTitle"/>
          </p:nvPr>
        </p:nvSpPr>
        <p:spPr>
          <a:xfrm>
            <a:off x="731520" y="328320"/>
            <a:ext cx="13167000" cy="636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4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2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/>
          </p:nvPr>
        </p:nvSpPr>
        <p:spPr>
          <a:xfrm>
            <a:off x="731520" y="4418640"/>
            <a:ext cx="1316700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9" name="PlaceHolder 4"/>
          <p:cNvSpPr>
            <a:spLocks noGrp="1"/>
          </p:cNvSpPr>
          <p:nvPr>
            <p:ph/>
          </p:nvPr>
        </p:nvSpPr>
        <p:spPr>
          <a:xfrm>
            <a:off x="73152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0" name="PlaceHolder 5"/>
          <p:cNvSpPr>
            <a:spLocks noGrp="1"/>
          </p:cNvSpPr>
          <p:nvPr>
            <p:ph/>
          </p:nvPr>
        </p:nvSpPr>
        <p:spPr>
          <a:xfrm>
            <a:off x="7478280" y="4418640"/>
            <a:ext cx="642528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518328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9635040" y="1925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5" name="PlaceHolder 5"/>
          <p:cNvSpPr>
            <a:spLocks noGrp="1"/>
          </p:cNvSpPr>
          <p:nvPr>
            <p:ph/>
          </p:nvPr>
        </p:nvSpPr>
        <p:spPr>
          <a:xfrm>
            <a:off x="73152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6" name="PlaceHolder 6"/>
          <p:cNvSpPr>
            <a:spLocks noGrp="1"/>
          </p:cNvSpPr>
          <p:nvPr>
            <p:ph/>
          </p:nvPr>
        </p:nvSpPr>
        <p:spPr>
          <a:xfrm>
            <a:off x="518328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7" name="PlaceHolder 7"/>
          <p:cNvSpPr>
            <a:spLocks noGrp="1"/>
          </p:cNvSpPr>
          <p:nvPr>
            <p:ph/>
          </p:nvPr>
        </p:nvSpPr>
        <p:spPr>
          <a:xfrm>
            <a:off x="9635040" y="4418640"/>
            <a:ext cx="4239360" cy="227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Relationship Id="rId9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69.xml"/><Relationship Id="rId13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Relationship Id="rId9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slideLayout" Target="../slideLayouts/slideLayout93.xml"/><Relationship Id="rId13" Type="http://schemas.openxmlformats.org/officeDocument/2006/relationships/slideLayout" Target="../slideLayouts/slideLayout94.xml"/><Relationship Id="rId14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9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éditer le </a:t>
            </a: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format du texte-titre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3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éditer le format du </a:t>
            </a: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texte-titre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</a:t>
            </a: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éditer le </a:t>
            </a: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format du </a:t>
            </a: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texte-titre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25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6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07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48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150d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0c0a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8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ln w="0">
            <a:noFill/>
          </a:ln>
        </p:spPr>
      </p:pic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Calibri Light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Calibri Light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rgbClr val="000000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25.xml"/><Relationship Id="rId6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49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6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slideLayout" Target="../slideLayouts/slideLayout73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hyperlink" Target="mailto:lilian.desesquelles@toulouse-inp.fr" TargetMode="External"/><Relationship Id="rId3" Type="http://schemas.openxmlformats.org/officeDocument/2006/relationships/slideLayout" Target="../slideLayouts/slideLayout85.xml"/><Relationship Id="rId4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5486040" cy="8229240"/>
          </a:xfrm>
          <a:prstGeom prst="rect">
            <a:avLst/>
          </a:prstGeom>
          <a:ln w="0">
            <a:noFill/>
          </a:ln>
        </p:spPr>
      </p:pic>
      <p:pic>
        <p:nvPicPr>
          <p:cNvPr id="335" name="Image 1" descr="preencoded.png"/>
          <p:cNvPicPr/>
          <p:nvPr/>
        </p:nvPicPr>
        <p:blipFill>
          <a:blip r:embed="rId2"/>
          <a:stretch/>
        </p:blipFill>
        <p:spPr>
          <a:xfrm>
            <a:off x="299160" y="324360"/>
            <a:ext cx="4887360" cy="7580520"/>
          </a:xfrm>
          <a:prstGeom prst="rect">
            <a:avLst/>
          </a:prstGeom>
          <a:ln w="0">
            <a:noFill/>
          </a:ln>
        </p:spPr>
      </p:pic>
      <p:sp>
        <p:nvSpPr>
          <p:cNvPr id="336" name="Text 0"/>
          <p:cNvSpPr/>
          <p:nvPr/>
        </p:nvSpPr>
        <p:spPr>
          <a:xfrm>
            <a:off x="6324120" y="2004480"/>
            <a:ext cx="7468200" cy="14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5499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Syne Bold"/>
                <a:ea typeface="Syne Bold"/>
              </a:rPr>
              <a:t>Projet Professionnel Personnel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337" name="Text 1"/>
          <p:cNvSpPr/>
          <p:nvPr/>
        </p:nvSpPr>
        <p:spPr>
          <a:xfrm>
            <a:off x="6324120" y="3771720"/>
            <a:ext cx="74682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99"/>
              </a:lnSpc>
              <a:buNone/>
              <a:tabLst>
                <a:tab algn="l" pos="0"/>
              </a:tabLst>
            </a:pPr>
            <a:r>
              <a:rPr b="0" lang="en-US" sz="1850" spc="-1" strike="noStrike">
                <a:solidFill>
                  <a:srgbClr val="d9e1ff"/>
                </a:solidFill>
                <a:latin typeface="arial"/>
                <a:ea typeface="arial"/>
              </a:rPr>
              <a:t>Software Engineer - Spécialité Logiciel</a:t>
            </a:r>
            <a:endParaRPr b="0" lang="fr-FR" sz="1850" spc="-1" strike="noStrike">
              <a:latin typeface="Arial"/>
            </a:endParaRPr>
          </a:p>
        </p:txBody>
      </p:sp>
      <p:sp>
        <p:nvSpPr>
          <p:cNvPr id="338" name="Text 2"/>
          <p:cNvSpPr/>
          <p:nvPr/>
        </p:nvSpPr>
        <p:spPr>
          <a:xfrm>
            <a:off x="6324120" y="4423680"/>
            <a:ext cx="746820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999"/>
              </a:lnSpc>
              <a:buNone/>
              <a:tabLst>
                <a:tab algn="l" pos="0"/>
              </a:tabLst>
            </a:pPr>
            <a:r>
              <a:rPr b="1" lang="en-US" sz="1850" spc="-1" strike="noStrike">
                <a:solidFill>
                  <a:srgbClr val="d9e1ff"/>
                </a:solidFill>
                <a:latin typeface="arial"/>
                <a:ea typeface="arial"/>
              </a:rPr>
              <a:t>Lilian Desesquelles</a:t>
            </a:r>
            <a:r>
              <a:rPr b="0" lang="en-US" sz="1850" spc="-1" strike="noStrike">
                <a:solidFill>
                  <a:srgbClr val="d9e1ff"/>
                </a:solidFill>
                <a:latin typeface="arial"/>
                <a:ea typeface="arial"/>
              </a:rPr>
              <a:t> • M1 Logiciel et Systèmes • ENSEEIHT (Toulouse INP)</a:t>
            </a:r>
            <a:endParaRPr b="0" lang="fr-FR" sz="1850" spc="-1" strike="noStrike">
              <a:latin typeface="Arial"/>
            </a:endParaRPr>
          </a:p>
        </p:txBody>
      </p:sp>
      <p:sp>
        <p:nvSpPr>
          <p:cNvPr id="339" name="Text 3"/>
          <p:cNvSpPr/>
          <p:nvPr/>
        </p:nvSpPr>
        <p:spPr>
          <a:xfrm>
            <a:off x="6324120" y="5459040"/>
            <a:ext cx="7468200" cy="76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999"/>
              </a:lnSpc>
              <a:buNone/>
              <a:tabLst>
                <a:tab algn="l" pos="0"/>
              </a:tabLst>
            </a:pPr>
            <a:r>
              <a:rPr b="0" lang="en-US" sz="1850" spc="-1" strike="noStrike">
                <a:solidFill>
                  <a:srgbClr val="d9e1ff"/>
                </a:solidFill>
                <a:latin typeface="arial"/>
                <a:ea typeface="arial"/>
              </a:rPr>
              <a:t>De la passion pour le code à l'ingénierie logicielle : trois voies possibles</a:t>
            </a:r>
            <a:endParaRPr b="0" lang="fr-FR" sz="1850" spc="-1" strike="noStrike"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12384000" y="7704000"/>
            <a:ext cx="2210400" cy="489600"/>
          </a:xfrm>
          <a:prstGeom prst="rect">
            <a:avLst/>
          </a:prstGeom>
          <a:solidFill>
            <a:srgbClr val="0c0a33"/>
          </a:solidFill>
          <a:ln w="0">
            <a:solidFill>
              <a:srgbClr val="0c0a33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 0"/>
          <p:cNvSpPr/>
          <p:nvPr/>
        </p:nvSpPr>
        <p:spPr>
          <a:xfrm>
            <a:off x="730080" y="873000"/>
            <a:ext cx="12700440" cy="61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4799"/>
              </a:lnSpc>
              <a:buNone/>
              <a:tabLst>
                <a:tab algn="l" pos="0"/>
              </a:tabLst>
            </a:pPr>
            <a:r>
              <a:rPr b="1" lang="en-US" sz="3850" spc="-1" strike="noStrike">
                <a:solidFill>
                  <a:srgbClr val="ffffff"/>
                </a:solidFill>
                <a:latin typeface="Syne Bold"/>
                <a:ea typeface="Syne Bold"/>
              </a:rPr>
              <a:t>Parcours : De Scratch aux systèmes complexes</a:t>
            </a:r>
            <a:endParaRPr b="0" lang="fr-FR" sz="3850" spc="-1" strike="noStrike">
              <a:latin typeface="Arial"/>
            </a:endParaRPr>
          </a:p>
        </p:txBody>
      </p:sp>
      <p:sp>
        <p:nvSpPr>
          <p:cNvPr id="342" name="Shape 1"/>
          <p:cNvSpPr/>
          <p:nvPr/>
        </p:nvSpPr>
        <p:spPr>
          <a:xfrm>
            <a:off x="730080" y="4629960"/>
            <a:ext cx="13169880" cy="22680"/>
          </a:xfrm>
          <a:prstGeom prst="roundRect">
            <a:avLst>
              <a:gd name="adj" fmla="val 136882"/>
            </a:avLst>
          </a:prstGeom>
          <a:solidFill>
            <a:srgbClr val="4442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Shape 2"/>
          <p:cNvSpPr/>
          <p:nvPr/>
        </p:nvSpPr>
        <p:spPr>
          <a:xfrm>
            <a:off x="3274560" y="4004280"/>
            <a:ext cx="22680" cy="625320"/>
          </a:xfrm>
          <a:prstGeom prst="roundRect">
            <a:avLst>
              <a:gd name="adj" fmla="val 136882"/>
            </a:avLst>
          </a:prstGeom>
          <a:solidFill>
            <a:srgbClr val="4442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4" name="Shape 3"/>
          <p:cNvSpPr/>
          <p:nvPr/>
        </p:nvSpPr>
        <p:spPr>
          <a:xfrm>
            <a:off x="3051360" y="4395600"/>
            <a:ext cx="469080" cy="469080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5" name="Text 4"/>
          <p:cNvSpPr/>
          <p:nvPr/>
        </p:nvSpPr>
        <p:spPr>
          <a:xfrm>
            <a:off x="3138840" y="4446000"/>
            <a:ext cx="2941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299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d9e1ff"/>
                </a:solidFill>
                <a:latin typeface="Syne Bold"/>
                <a:ea typeface="Syne Bold"/>
              </a:rPr>
              <a:t>1</a:t>
            </a:r>
            <a:endParaRPr b="0" lang="fr-FR" sz="2300" spc="-1" strike="noStrike">
              <a:latin typeface="Arial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1523880" y="1903680"/>
            <a:ext cx="35236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d9e1ff"/>
                </a:solidFill>
                <a:latin typeface="Syne Bold"/>
                <a:ea typeface="Syne Bold"/>
              </a:rPr>
              <a:t>Collège - Les premiers pas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347" name="Text 6"/>
          <p:cNvSpPr/>
          <p:nvPr/>
        </p:nvSpPr>
        <p:spPr>
          <a:xfrm>
            <a:off x="938520" y="2335680"/>
            <a:ext cx="4694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599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2016-2019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48" name="Text 7"/>
          <p:cNvSpPr/>
          <p:nvPr/>
        </p:nvSpPr>
        <p:spPr>
          <a:xfrm>
            <a:off x="938520" y="2794680"/>
            <a:ext cx="469404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Découverte de la programmation avec Scratch et création de mini-jeux simples. J'avais envie de créer des jeux vidéos.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49" name="Shape 8"/>
          <p:cNvSpPr/>
          <p:nvPr/>
        </p:nvSpPr>
        <p:spPr>
          <a:xfrm>
            <a:off x="5960520" y="4629960"/>
            <a:ext cx="22680" cy="625320"/>
          </a:xfrm>
          <a:prstGeom prst="roundRect">
            <a:avLst>
              <a:gd name="adj" fmla="val 136882"/>
            </a:avLst>
          </a:prstGeom>
          <a:solidFill>
            <a:srgbClr val="4442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0" name="Shape 9"/>
          <p:cNvSpPr/>
          <p:nvPr/>
        </p:nvSpPr>
        <p:spPr>
          <a:xfrm>
            <a:off x="5737320" y="4395600"/>
            <a:ext cx="469080" cy="469080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Text 10"/>
          <p:cNvSpPr/>
          <p:nvPr/>
        </p:nvSpPr>
        <p:spPr>
          <a:xfrm>
            <a:off x="5824800" y="4446000"/>
            <a:ext cx="2941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299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d9e1ff"/>
                </a:solidFill>
                <a:latin typeface="Syne Bold"/>
                <a:ea typeface="Syne Bold"/>
              </a:rPr>
              <a:t>2</a:t>
            </a:r>
            <a:endParaRPr b="0" lang="fr-FR" sz="2300" spc="-1" strike="noStrike">
              <a:latin typeface="Arial"/>
            </a:endParaRPr>
          </a:p>
        </p:txBody>
      </p:sp>
      <p:sp>
        <p:nvSpPr>
          <p:cNvPr id="352" name="Text 11"/>
          <p:cNvSpPr/>
          <p:nvPr/>
        </p:nvSpPr>
        <p:spPr>
          <a:xfrm>
            <a:off x="4107960" y="5464440"/>
            <a:ext cx="37278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d9e1ff"/>
                </a:solidFill>
                <a:latin typeface="Syne Bold"/>
                <a:ea typeface="Syne Bold"/>
              </a:rPr>
              <a:t>Lycée - Approfondissement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353" name="Text 12"/>
          <p:cNvSpPr/>
          <p:nvPr/>
        </p:nvSpPr>
        <p:spPr>
          <a:xfrm>
            <a:off x="3624840" y="5896440"/>
            <a:ext cx="4694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599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2019-2022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54" name="Text 13"/>
          <p:cNvSpPr/>
          <p:nvPr/>
        </p:nvSpPr>
        <p:spPr>
          <a:xfrm>
            <a:off x="3624840" y="6355080"/>
            <a:ext cx="469404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Programmation en Python, passion grandissante pour les mathématiques. Bac Mention Très Bien (Maths/Physique-Chimie)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55" name="Shape 14"/>
          <p:cNvSpPr/>
          <p:nvPr/>
        </p:nvSpPr>
        <p:spPr>
          <a:xfrm>
            <a:off x="8646840" y="4004280"/>
            <a:ext cx="22680" cy="625320"/>
          </a:xfrm>
          <a:prstGeom prst="roundRect">
            <a:avLst>
              <a:gd name="adj" fmla="val 136882"/>
            </a:avLst>
          </a:prstGeom>
          <a:solidFill>
            <a:srgbClr val="4442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Shape 15"/>
          <p:cNvSpPr/>
          <p:nvPr/>
        </p:nvSpPr>
        <p:spPr>
          <a:xfrm>
            <a:off x="8423640" y="4395600"/>
            <a:ext cx="469080" cy="469080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7" name="Text 16"/>
          <p:cNvSpPr/>
          <p:nvPr/>
        </p:nvSpPr>
        <p:spPr>
          <a:xfrm>
            <a:off x="8511120" y="4446000"/>
            <a:ext cx="2941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299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d9e1ff"/>
                </a:solidFill>
                <a:latin typeface="Syne Bold"/>
                <a:ea typeface="Syne Bold"/>
              </a:rPr>
              <a:t>3</a:t>
            </a:r>
            <a:endParaRPr b="0" lang="fr-FR" sz="2300" spc="-1" strike="noStrike">
              <a:latin typeface="Arial"/>
            </a:endParaRPr>
          </a:p>
        </p:txBody>
      </p:sp>
      <p:sp>
        <p:nvSpPr>
          <p:cNvPr id="358" name="Text 17"/>
          <p:cNvSpPr/>
          <p:nvPr/>
        </p:nvSpPr>
        <p:spPr>
          <a:xfrm>
            <a:off x="6536160" y="1903680"/>
            <a:ext cx="424332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d9e1ff"/>
                </a:solidFill>
                <a:latin typeface="Syne Bold"/>
                <a:ea typeface="Syne Bold"/>
              </a:rPr>
              <a:t>Prépa MP - Rigueur scientifique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359" name="Text 18"/>
          <p:cNvSpPr/>
          <p:nvPr/>
        </p:nvSpPr>
        <p:spPr>
          <a:xfrm>
            <a:off x="6311160" y="2335680"/>
            <a:ext cx="4694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599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2022-2024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60" name="Text 19"/>
          <p:cNvSpPr/>
          <p:nvPr/>
        </p:nvSpPr>
        <p:spPr>
          <a:xfrm>
            <a:off x="6311160" y="2794680"/>
            <a:ext cx="4694040" cy="66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CPGE au Lycée Faidherbe (Lille). Formation intensive en mathématiques et physique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61" name="Shape 20"/>
          <p:cNvSpPr/>
          <p:nvPr/>
        </p:nvSpPr>
        <p:spPr>
          <a:xfrm>
            <a:off x="11332800" y="4629960"/>
            <a:ext cx="22680" cy="625320"/>
          </a:xfrm>
          <a:prstGeom prst="roundRect">
            <a:avLst>
              <a:gd name="adj" fmla="val 136882"/>
            </a:avLst>
          </a:prstGeom>
          <a:solidFill>
            <a:srgbClr val="4442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2" name="Shape 21"/>
          <p:cNvSpPr/>
          <p:nvPr/>
        </p:nvSpPr>
        <p:spPr>
          <a:xfrm>
            <a:off x="11109600" y="4395600"/>
            <a:ext cx="469080" cy="469080"/>
          </a:xfrm>
          <a:prstGeom prst="roundRect">
            <a:avLst>
              <a:gd name="adj" fmla="val 6667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Text 22"/>
          <p:cNvSpPr/>
          <p:nvPr/>
        </p:nvSpPr>
        <p:spPr>
          <a:xfrm>
            <a:off x="11197080" y="4446000"/>
            <a:ext cx="2941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299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d9e1ff"/>
                </a:solidFill>
                <a:latin typeface="Syne Bold"/>
                <a:ea typeface="Syne Bold"/>
              </a:rPr>
              <a:t>4</a:t>
            </a:r>
            <a:endParaRPr b="0" lang="fr-FR" sz="2300" spc="-1" strike="noStrike">
              <a:latin typeface="Arial"/>
            </a:endParaRPr>
          </a:p>
        </p:txBody>
      </p:sp>
      <p:sp>
        <p:nvSpPr>
          <p:cNvPr id="364" name="Text 23"/>
          <p:cNvSpPr/>
          <p:nvPr/>
        </p:nvSpPr>
        <p:spPr>
          <a:xfrm>
            <a:off x="9607320" y="5464440"/>
            <a:ext cx="347400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d9e1ff"/>
                </a:solidFill>
                <a:latin typeface="Syne Bold"/>
                <a:ea typeface="Syne Bold"/>
              </a:rPr>
              <a:t>ENSEEIHT - Confirmation</a:t>
            </a:r>
            <a:endParaRPr b="0" lang="fr-FR" sz="1900" spc="-1" strike="noStrike">
              <a:latin typeface="Arial"/>
            </a:endParaRPr>
          </a:p>
        </p:txBody>
      </p:sp>
      <p:sp>
        <p:nvSpPr>
          <p:cNvPr id="365" name="Text 24"/>
          <p:cNvSpPr/>
          <p:nvPr/>
        </p:nvSpPr>
        <p:spPr>
          <a:xfrm>
            <a:off x="8997120" y="5896440"/>
            <a:ext cx="4694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ts val="2599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2024-présent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66" name="Text 25"/>
          <p:cNvSpPr/>
          <p:nvPr/>
        </p:nvSpPr>
        <p:spPr>
          <a:xfrm>
            <a:off x="8997120" y="6355080"/>
            <a:ext cx="4694040" cy="100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ts val="2599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d9e1ff"/>
                </a:solidFill>
                <a:latin typeface="arial"/>
                <a:ea typeface="arial"/>
              </a:rPr>
              <a:t>École d'ingénieur en informatique, Filière Logiciel et Systèmes (SL). Projets concrets qui consolident mes ambitions</a:t>
            </a:r>
            <a:endParaRPr b="0" lang="fr-FR" sz="1600" spc="-1" strike="noStrike"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12564000" y="7524000"/>
            <a:ext cx="2030400" cy="669600"/>
          </a:xfrm>
          <a:prstGeom prst="rect">
            <a:avLst/>
          </a:prstGeom>
          <a:solidFill>
            <a:srgbClr val="0c0a33"/>
          </a:solidFill>
          <a:ln w="0">
            <a:solidFill>
              <a:srgbClr val="0c0a33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Image 0" descr="preencoded.png"/>
          <p:cNvPicPr/>
          <p:nvPr/>
        </p:nvPicPr>
        <p:blipFill>
          <a:blip r:embed="rId1"/>
          <a:stretch/>
        </p:blipFill>
        <p:spPr>
          <a:xfrm>
            <a:off x="9144000" y="0"/>
            <a:ext cx="5486040" cy="8229240"/>
          </a:xfrm>
          <a:prstGeom prst="rect">
            <a:avLst/>
          </a:prstGeom>
          <a:ln w="0">
            <a:noFill/>
          </a:ln>
        </p:spPr>
      </p:pic>
      <p:sp>
        <p:nvSpPr>
          <p:cNvPr id="369" name="Text 0"/>
          <p:cNvSpPr/>
          <p:nvPr/>
        </p:nvSpPr>
        <p:spPr>
          <a:xfrm>
            <a:off x="575640" y="453240"/>
            <a:ext cx="7992360" cy="96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3801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Syne Bold"/>
                <a:ea typeface="Syne Bold"/>
              </a:rPr>
              <a:t>Projets techniques : du code aux expériences complètes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370" name="Shape 1"/>
          <p:cNvSpPr/>
          <p:nvPr/>
        </p:nvSpPr>
        <p:spPr>
          <a:xfrm>
            <a:off x="575640" y="1667520"/>
            <a:ext cx="3913560" cy="3366720"/>
          </a:xfrm>
          <a:prstGeom prst="roundRect">
            <a:avLst>
              <a:gd name="adj" fmla="val 733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1" name="Shape 2"/>
          <p:cNvSpPr/>
          <p:nvPr/>
        </p:nvSpPr>
        <p:spPr>
          <a:xfrm>
            <a:off x="740160" y="1832040"/>
            <a:ext cx="493200" cy="493200"/>
          </a:xfrm>
          <a:prstGeom prst="roundRect">
            <a:avLst>
              <a:gd name="adj" fmla="val 18530965"/>
            </a:avLst>
          </a:prstGeom>
          <a:solidFill>
            <a:srgbClr val="8061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72" name="Image 1" descr="preencoded.png"/>
          <p:cNvPicPr/>
          <p:nvPr/>
        </p:nvPicPr>
        <p:blipFill>
          <a:blip r:embed="rId2"/>
          <a:stretch/>
        </p:blipFill>
        <p:spPr>
          <a:xfrm>
            <a:off x="875880" y="1967760"/>
            <a:ext cx="221760" cy="221760"/>
          </a:xfrm>
          <a:prstGeom prst="rect">
            <a:avLst/>
          </a:prstGeom>
          <a:ln w="0">
            <a:noFill/>
          </a:ln>
        </p:spPr>
      </p:pic>
      <p:sp>
        <p:nvSpPr>
          <p:cNvPr id="373" name="Text 3"/>
          <p:cNvSpPr/>
          <p:nvPr/>
        </p:nvSpPr>
        <p:spPr>
          <a:xfrm>
            <a:off x="740160" y="2489760"/>
            <a:ext cx="280656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Projet TOB - Jeu Roguelike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74" name="Text 4"/>
          <p:cNvSpPr/>
          <p:nvPr/>
        </p:nvSpPr>
        <p:spPr>
          <a:xfrm>
            <a:off x="740160" y="2830320"/>
            <a:ext cx="358488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2024 • Équipe de 8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375" name="Text 5"/>
          <p:cNvSpPr/>
          <p:nvPr/>
        </p:nvSpPr>
        <p:spPr>
          <a:xfrm>
            <a:off x="740160" y="3192120"/>
            <a:ext cx="3584880" cy="10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Développement d'un jeu vidéo complet avec architecture MVC stricte en Java. Gestion des collisions, IA basique, animations et gestion de projet avec Git.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376" name="Text 6"/>
          <p:cNvSpPr/>
          <p:nvPr/>
        </p:nvSpPr>
        <p:spPr>
          <a:xfrm>
            <a:off x="740160" y="4343760"/>
            <a:ext cx="358488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highlight>
                  <a:srgbClr val="8061ff"/>
                </a:highlight>
                <a:latin typeface="arial"/>
                <a:ea typeface="arial"/>
              </a:rPr>
              <a:t>Impact</a:t>
            </a: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 : Confirmation de ma passion pour le développement de jeux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377" name="Shape 7"/>
          <p:cNvSpPr/>
          <p:nvPr/>
        </p:nvSpPr>
        <p:spPr>
          <a:xfrm>
            <a:off x="4654080" y="1667520"/>
            <a:ext cx="3913920" cy="3366720"/>
          </a:xfrm>
          <a:prstGeom prst="roundRect">
            <a:avLst>
              <a:gd name="adj" fmla="val 733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Shape 8"/>
          <p:cNvSpPr/>
          <p:nvPr/>
        </p:nvSpPr>
        <p:spPr>
          <a:xfrm>
            <a:off x="4818600" y="1832040"/>
            <a:ext cx="493200" cy="493200"/>
          </a:xfrm>
          <a:prstGeom prst="roundRect">
            <a:avLst>
              <a:gd name="adj" fmla="val 18530965"/>
            </a:avLst>
          </a:prstGeom>
          <a:solidFill>
            <a:srgbClr val="8061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79" name="Image 2" descr="preencoded.png"/>
          <p:cNvPicPr/>
          <p:nvPr/>
        </p:nvPicPr>
        <p:blipFill>
          <a:blip r:embed="rId3"/>
          <a:stretch/>
        </p:blipFill>
        <p:spPr>
          <a:xfrm>
            <a:off x="4954320" y="1967760"/>
            <a:ext cx="221760" cy="221760"/>
          </a:xfrm>
          <a:prstGeom prst="rect">
            <a:avLst/>
          </a:prstGeom>
          <a:ln w="0">
            <a:noFill/>
          </a:ln>
        </p:spPr>
      </p:pic>
      <p:sp>
        <p:nvSpPr>
          <p:cNvPr id="380" name="Text 9"/>
          <p:cNvSpPr/>
          <p:nvPr/>
        </p:nvSpPr>
        <p:spPr>
          <a:xfrm>
            <a:off x="4818600" y="2489760"/>
            <a:ext cx="201996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Jeu des Allumettes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81" name="Text 10"/>
          <p:cNvSpPr/>
          <p:nvPr/>
        </p:nvSpPr>
        <p:spPr>
          <a:xfrm>
            <a:off x="4818600" y="2830320"/>
            <a:ext cx="358488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Projet algorithmique avec stratégie IA, logique de jeu et optimisation.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382" name="Text 11"/>
          <p:cNvSpPr/>
          <p:nvPr/>
        </p:nvSpPr>
        <p:spPr>
          <a:xfrm>
            <a:off x="4818600" y="3455280"/>
            <a:ext cx="358488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highlight>
                  <a:srgbClr val="8061ff"/>
                </a:highlight>
                <a:latin typeface="arial"/>
                <a:ea typeface="arial"/>
              </a:rPr>
              <a:t>Impact</a:t>
            </a: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 : Découverte de l'aspect stratégique du code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383" name="Shape 12"/>
          <p:cNvSpPr/>
          <p:nvPr/>
        </p:nvSpPr>
        <p:spPr>
          <a:xfrm>
            <a:off x="575640" y="5199120"/>
            <a:ext cx="7992360" cy="2576880"/>
          </a:xfrm>
          <a:prstGeom prst="roundRect">
            <a:avLst>
              <a:gd name="adj" fmla="val 957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84" name="Shape 13"/>
          <p:cNvSpPr/>
          <p:nvPr/>
        </p:nvSpPr>
        <p:spPr>
          <a:xfrm>
            <a:off x="740160" y="5363280"/>
            <a:ext cx="493200" cy="493200"/>
          </a:xfrm>
          <a:prstGeom prst="roundRect">
            <a:avLst>
              <a:gd name="adj" fmla="val 18530965"/>
            </a:avLst>
          </a:prstGeom>
          <a:solidFill>
            <a:srgbClr val="8061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85" name="Image 3" descr="preencoded.png"/>
          <p:cNvPicPr/>
          <p:nvPr/>
        </p:nvPicPr>
        <p:blipFill>
          <a:blip r:embed="rId4"/>
          <a:stretch/>
        </p:blipFill>
        <p:spPr>
          <a:xfrm>
            <a:off x="875880" y="5499000"/>
            <a:ext cx="221760" cy="221760"/>
          </a:xfrm>
          <a:prstGeom prst="rect">
            <a:avLst/>
          </a:prstGeom>
          <a:ln w="0">
            <a:noFill/>
          </a:ln>
        </p:spPr>
      </p:pic>
      <p:sp>
        <p:nvSpPr>
          <p:cNvPr id="386" name="Text 14"/>
          <p:cNvSpPr/>
          <p:nvPr/>
        </p:nvSpPr>
        <p:spPr>
          <a:xfrm>
            <a:off x="740160" y="6021360"/>
            <a:ext cx="193464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Nuit de l'Info 2025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387" name="Text 15"/>
          <p:cNvSpPr/>
          <p:nvPr/>
        </p:nvSpPr>
        <p:spPr>
          <a:xfrm>
            <a:off x="740160" y="6361560"/>
            <a:ext cx="766332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Équipe de 10 • Plusieurs prix remportés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388" name="Text 16"/>
          <p:cNvSpPr/>
          <p:nvPr/>
        </p:nvSpPr>
        <p:spPr>
          <a:xfrm>
            <a:off x="740160" y="6723360"/>
            <a:ext cx="7663320" cy="52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Hackathon national intensif du coucher au lever du soleil. Développement web avec défis techniques et créatifs.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389" name="Text 17"/>
          <p:cNvSpPr/>
          <p:nvPr/>
        </p:nvSpPr>
        <p:spPr>
          <a:xfrm>
            <a:off x="740160" y="7348680"/>
            <a:ext cx="766332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highlight>
                  <a:srgbClr val="8061ff"/>
                </a:highlight>
                <a:latin typeface="arial"/>
                <a:ea typeface="arial"/>
              </a:rPr>
              <a:t>Impact</a:t>
            </a: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 : Travail d'équipe sous pression, capacité d'adaptation</a:t>
            </a:r>
            <a:endParaRPr b="0" lang="fr-FR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 0"/>
          <p:cNvSpPr/>
          <p:nvPr/>
        </p:nvSpPr>
        <p:spPr>
          <a:xfrm>
            <a:off x="755280" y="1098720"/>
            <a:ext cx="13119480" cy="12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949"/>
              </a:lnSpc>
              <a:buNone/>
              <a:tabLst>
                <a:tab algn="l" pos="0"/>
              </a:tabLst>
            </a:pPr>
            <a:r>
              <a:rPr b="1" lang="en-US" sz="3950" spc="-1" strike="noStrike">
                <a:solidFill>
                  <a:srgbClr val="ffffff"/>
                </a:solidFill>
                <a:latin typeface="Syne Bold"/>
                <a:ea typeface="Syne Bold"/>
              </a:rPr>
              <a:t>Démarche Design Thinking : Explorer les opportunités</a:t>
            </a:r>
            <a:endParaRPr b="0" lang="fr-FR" sz="3950" spc="-1" strike="noStrike">
              <a:latin typeface="Arial"/>
            </a:endParaRPr>
          </a:p>
        </p:txBody>
      </p:sp>
      <p:sp>
        <p:nvSpPr>
          <p:cNvPr id="391" name="Text 1"/>
          <p:cNvSpPr/>
          <p:nvPr/>
        </p:nvSpPr>
        <p:spPr>
          <a:xfrm>
            <a:off x="755280" y="2907720"/>
            <a:ext cx="39193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ffffff"/>
                </a:solidFill>
                <a:latin typeface="Syne Bold"/>
                <a:ea typeface="Syne Bold"/>
              </a:rPr>
              <a:t>Marché &amp; Secteurs analysés</a:t>
            </a:r>
            <a:endParaRPr b="0" lang="fr-FR" sz="1950" spc="-1" strike="noStrike">
              <a:latin typeface="Arial"/>
            </a:endParaRPr>
          </a:p>
        </p:txBody>
      </p:sp>
      <p:sp>
        <p:nvSpPr>
          <p:cNvPr id="392" name="Text 2"/>
          <p:cNvSpPr/>
          <p:nvPr/>
        </p:nvSpPr>
        <p:spPr>
          <a:xfrm>
            <a:off x="755280" y="3440520"/>
            <a:ext cx="3976560" cy="138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1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Jeux vidéo</a:t>
            </a: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 : Marché en croissance constante, demande forte en programmeurs gameplay et moteurs de jeu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393" name="Text 3"/>
          <p:cNvSpPr/>
          <p:nvPr/>
        </p:nvSpPr>
        <p:spPr>
          <a:xfrm>
            <a:off x="755280" y="5015880"/>
            <a:ext cx="3976560" cy="10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1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Développement logiciel</a:t>
            </a: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 : Secteur diversifié offrant des opportunités dans toutes les entreprises et l'humanitaire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394" name="Text 4"/>
          <p:cNvSpPr/>
          <p:nvPr/>
        </p:nvSpPr>
        <p:spPr>
          <a:xfrm>
            <a:off x="755280" y="6246000"/>
            <a:ext cx="397656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1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Cybersécurité</a:t>
            </a: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 : Demande explosive dûs aux avancées technologiques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395" name="Text 5"/>
          <p:cNvSpPr/>
          <p:nvPr/>
        </p:nvSpPr>
        <p:spPr>
          <a:xfrm>
            <a:off x="5266080" y="2907720"/>
            <a:ext cx="36885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ffffff"/>
                </a:solidFill>
                <a:latin typeface="Syne Bold"/>
                <a:ea typeface="Syne Bold"/>
              </a:rPr>
              <a:t>Profils d'ingénieurs étudiés</a:t>
            </a:r>
            <a:endParaRPr b="0" lang="fr-FR" sz="1950" spc="-1" strike="noStrike">
              <a:latin typeface="Arial"/>
            </a:endParaRPr>
          </a:p>
        </p:txBody>
      </p:sp>
      <p:sp>
        <p:nvSpPr>
          <p:cNvPr id="396" name="Text 6"/>
          <p:cNvSpPr/>
          <p:nvPr/>
        </p:nvSpPr>
        <p:spPr>
          <a:xfrm>
            <a:off x="5266080" y="3440520"/>
            <a:ext cx="3976560" cy="10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1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Ufuk Yalcin</a:t>
            </a: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 • Développeur Gameplay chez Ubisoft Paris, travail sur Star Wars Outlaws. 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397" name="Text 7"/>
          <p:cNvSpPr/>
          <p:nvPr/>
        </p:nvSpPr>
        <p:spPr>
          <a:xfrm>
            <a:off x="5266080" y="4670640"/>
            <a:ext cx="3976560" cy="10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1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Pierre Monchecourt</a:t>
            </a: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 • SOC Analyst en cybersécurité. </a:t>
            </a:r>
            <a:r>
              <a:rPr b="0" i="1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Secteur en forte demande, rôle stratégique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398" name="Text 8"/>
          <p:cNvSpPr/>
          <p:nvPr/>
        </p:nvSpPr>
        <p:spPr>
          <a:xfrm>
            <a:off x="5266080" y="5900760"/>
            <a:ext cx="3976560" cy="103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1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Dorian Gardes</a:t>
            </a: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 • Viveris - Computer Science, Networking &amp; Telecom. </a:t>
            </a:r>
            <a:r>
              <a:rPr b="0" i="1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Diversité des métiers du logiciel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399" name="Text 9"/>
          <p:cNvSpPr/>
          <p:nvPr/>
        </p:nvSpPr>
        <p:spPr>
          <a:xfrm>
            <a:off x="9776880" y="2907720"/>
            <a:ext cx="253836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49"/>
              </a:lnSpc>
              <a:buNone/>
              <a:tabLst>
                <a:tab algn="l" pos="0"/>
              </a:tabLst>
            </a:pPr>
            <a:r>
              <a:rPr b="1" lang="en-US" sz="1950" spc="-1" strike="noStrike">
                <a:solidFill>
                  <a:srgbClr val="ffffff"/>
                </a:solidFill>
                <a:latin typeface="Syne Bold"/>
                <a:ea typeface="Syne Bold"/>
              </a:rPr>
              <a:t>Insights Clés</a:t>
            </a:r>
            <a:endParaRPr b="0" lang="fr-FR" sz="1950" spc="-1" strike="noStrike">
              <a:latin typeface="Arial"/>
            </a:endParaRPr>
          </a:p>
        </p:txBody>
      </p:sp>
      <p:sp>
        <p:nvSpPr>
          <p:cNvPr id="400" name="Text 10"/>
          <p:cNvSpPr/>
          <p:nvPr/>
        </p:nvSpPr>
        <p:spPr>
          <a:xfrm>
            <a:off x="9776880" y="3440520"/>
            <a:ext cx="411300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Les trois domaines offrent d'excellentes perspectives d'évolution professionnelle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401" name="Text 11"/>
          <p:cNvSpPr/>
          <p:nvPr/>
        </p:nvSpPr>
        <p:spPr>
          <a:xfrm>
            <a:off x="9776880" y="4325400"/>
            <a:ext cx="411300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Importance cruciale de la polyvalence technique et des expériences concrètes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402" name="Text 12"/>
          <p:cNvSpPr/>
          <p:nvPr/>
        </p:nvSpPr>
        <p:spPr>
          <a:xfrm>
            <a:off x="9776880" y="5210280"/>
            <a:ext cx="411300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Nécessité de stages et projets personnels pour se démarquer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403" name="Text 13"/>
          <p:cNvSpPr/>
          <p:nvPr/>
        </p:nvSpPr>
        <p:spPr>
          <a:xfrm>
            <a:off x="9776880" y="6094800"/>
            <a:ext cx="4113000" cy="69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701"/>
              </a:lnSpc>
              <a:buNone/>
              <a:tabLst>
                <a:tab algn="l" pos="0"/>
              </a:tabLst>
            </a:pPr>
            <a:r>
              <a:rPr b="0" lang="en-US" sz="1650" spc="-1" strike="noStrike">
                <a:solidFill>
                  <a:srgbClr val="d9e1ff"/>
                </a:solidFill>
                <a:latin typeface="arial"/>
                <a:ea typeface="arial"/>
              </a:rPr>
              <a:t>La spécialisation définitive peut attendre la 3A</a:t>
            </a:r>
            <a:endParaRPr b="0" lang="fr-FR" sz="1650" spc="-1" strike="noStrike"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12564000" y="7524000"/>
            <a:ext cx="2030400" cy="669600"/>
          </a:xfrm>
          <a:prstGeom prst="rect">
            <a:avLst/>
          </a:prstGeom>
          <a:solidFill>
            <a:srgbClr val="0c0a33"/>
          </a:solidFill>
          <a:ln w="0">
            <a:solidFill>
              <a:srgbClr val="0c0a33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 0"/>
          <p:cNvSpPr/>
          <p:nvPr/>
        </p:nvSpPr>
        <p:spPr>
          <a:xfrm>
            <a:off x="675720" y="565560"/>
            <a:ext cx="13278600" cy="113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4450"/>
              </a:lnSpc>
              <a:buNone/>
              <a:tabLst>
                <a:tab algn="l" pos="0"/>
              </a:tabLst>
            </a:pPr>
            <a:r>
              <a:rPr b="1" lang="en-US" sz="3550" spc="-1" strike="noStrike">
                <a:solidFill>
                  <a:srgbClr val="ffffff"/>
                </a:solidFill>
                <a:latin typeface="Syne Bold"/>
                <a:ea typeface="Syne Bold"/>
              </a:rPr>
              <a:t>Trois chemins, une même passion : créer des systèmes logiciels</a:t>
            </a:r>
            <a:endParaRPr b="0" lang="fr-FR" sz="3550" spc="-1" strike="noStrike">
              <a:latin typeface="Arial"/>
            </a:endParaRPr>
          </a:p>
        </p:txBody>
      </p:sp>
      <p:sp>
        <p:nvSpPr>
          <p:cNvPr id="406" name="Shape 1"/>
          <p:cNvSpPr/>
          <p:nvPr/>
        </p:nvSpPr>
        <p:spPr>
          <a:xfrm>
            <a:off x="675720" y="2087640"/>
            <a:ext cx="4297320" cy="4538520"/>
          </a:xfrm>
          <a:prstGeom prst="roundRect">
            <a:avLst>
              <a:gd name="adj" fmla="val 674"/>
            </a:avLst>
          </a:prstGeom>
          <a:solidFill>
            <a:srgbClr val="0c0a33"/>
          </a:solidFill>
          <a:ln w="22860">
            <a:solidFill>
              <a:srgbClr val="4442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Shape 2"/>
          <p:cNvSpPr/>
          <p:nvPr/>
        </p:nvSpPr>
        <p:spPr>
          <a:xfrm>
            <a:off x="698760" y="2110320"/>
            <a:ext cx="4251600" cy="578880"/>
          </a:xfrm>
          <a:prstGeom prst="roundRect">
            <a:avLst>
              <a:gd name="adj" fmla="val 265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08" name="Image 0" descr="preencoded.png"/>
          <p:cNvPicPr/>
          <p:nvPr/>
        </p:nvPicPr>
        <p:blipFill>
          <a:blip r:embed="rId1"/>
          <a:stretch/>
        </p:blipFill>
        <p:spPr>
          <a:xfrm>
            <a:off x="2679840" y="2255040"/>
            <a:ext cx="289080" cy="289080"/>
          </a:xfrm>
          <a:prstGeom prst="rect">
            <a:avLst/>
          </a:prstGeom>
          <a:ln w="0">
            <a:noFill/>
          </a:ln>
        </p:spPr>
      </p:pic>
      <p:sp>
        <p:nvSpPr>
          <p:cNvPr id="409" name="Text 3"/>
          <p:cNvSpPr/>
          <p:nvPr/>
        </p:nvSpPr>
        <p:spPr>
          <a:xfrm>
            <a:off x="891720" y="2882520"/>
            <a:ext cx="357300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1" lang="en-US" sz="1750" spc="-1" strike="noStrike">
                <a:solidFill>
                  <a:srgbClr val="d9e1ff"/>
                </a:solidFill>
                <a:latin typeface="Syne Bold"/>
                <a:ea typeface="Syne Bold"/>
              </a:rPr>
              <a:t>Programmeur de Jeux Vidéo</a:t>
            </a:r>
            <a:endParaRPr b="0" lang="fr-FR" sz="1750" spc="-1" strike="noStrike">
              <a:latin typeface="Arial"/>
            </a:endParaRPr>
          </a:p>
        </p:txBody>
      </p:sp>
      <p:sp>
        <p:nvSpPr>
          <p:cNvPr id="410" name="Text 4"/>
          <p:cNvSpPr/>
          <p:nvPr/>
        </p:nvSpPr>
        <p:spPr>
          <a:xfrm>
            <a:off x="891720" y="3282480"/>
            <a:ext cx="386532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Rôle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Gameplay Developer ou Engine Programmer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11" name="Text 5"/>
          <p:cNvSpPr/>
          <p:nvPr/>
        </p:nvSpPr>
        <p:spPr>
          <a:xfrm>
            <a:off x="891720" y="4016160"/>
            <a:ext cx="386532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Cibles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Grands Studios (Ubisoft, etc.) ou studios indépendants innovants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12" name="Text 6"/>
          <p:cNvSpPr/>
          <p:nvPr/>
        </p:nvSpPr>
        <p:spPr>
          <a:xfrm>
            <a:off x="891720" y="4749840"/>
            <a:ext cx="3865320" cy="9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8061ff"/>
                </a:solidFill>
                <a:latin typeface="arial"/>
                <a:ea typeface="arial"/>
              </a:rPr>
              <a:t>Atouts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Passion personnelle depuis le collège, expérience projet TOB, créativité technique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13" name="Text 7"/>
          <p:cNvSpPr/>
          <p:nvPr/>
        </p:nvSpPr>
        <p:spPr>
          <a:xfrm>
            <a:off x="891720" y="5792760"/>
            <a:ext cx="386532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Défis : Marché compétitif, horaires parfois intenses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14" name="Shape 8"/>
          <p:cNvSpPr/>
          <p:nvPr/>
        </p:nvSpPr>
        <p:spPr>
          <a:xfrm>
            <a:off x="5166360" y="2087640"/>
            <a:ext cx="4297320" cy="4538520"/>
          </a:xfrm>
          <a:prstGeom prst="roundRect">
            <a:avLst>
              <a:gd name="adj" fmla="val 674"/>
            </a:avLst>
          </a:prstGeom>
          <a:solidFill>
            <a:srgbClr val="0c0a33"/>
          </a:solidFill>
          <a:ln w="22860">
            <a:solidFill>
              <a:srgbClr val="4442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Shape 9"/>
          <p:cNvSpPr/>
          <p:nvPr/>
        </p:nvSpPr>
        <p:spPr>
          <a:xfrm>
            <a:off x="5189400" y="2110320"/>
            <a:ext cx="4251600" cy="578880"/>
          </a:xfrm>
          <a:prstGeom prst="roundRect">
            <a:avLst>
              <a:gd name="adj" fmla="val 265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16" name="Image 1" descr="preencoded.png"/>
          <p:cNvPicPr/>
          <p:nvPr/>
        </p:nvPicPr>
        <p:blipFill>
          <a:blip r:embed="rId2"/>
          <a:stretch/>
        </p:blipFill>
        <p:spPr>
          <a:xfrm>
            <a:off x="7170480" y="2255040"/>
            <a:ext cx="289080" cy="289080"/>
          </a:xfrm>
          <a:prstGeom prst="rect">
            <a:avLst/>
          </a:prstGeom>
          <a:ln w="0">
            <a:noFill/>
          </a:ln>
        </p:spPr>
      </p:pic>
      <p:sp>
        <p:nvSpPr>
          <p:cNvPr id="417" name="Text 10"/>
          <p:cNvSpPr/>
          <p:nvPr/>
        </p:nvSpPr>
        <p:spPr>
          <a:xfrm>
            <a:off x="5382360" y="2882520"/>
            <a:ext cx="3865320" cy="56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1" lang="en-US" sz="1750" spc="-1" strike="noStrike">
                <a:solidFill>
                  <a:srgbClr val="d9e1ff"/>
                </a:solidFill>
                <a:latin typeface="Syne Bold"/>
                <a:ea typeface="Syne Bold"/>
              </a:rPr>
              <a:t>Ingénieur Développement Logiciel</a:t>
            </a:r>
            <a:endParaRPr b="0" lang="fr-FR" sz="1750" spc="-1" strike="noStrike">
              <a:latin typeface="Arial"/>
            </a:endParaRPr>
          </a:p>
        </p:txBody>
      </p:sp>
      <p:sp>
        <p:nvSpPr>
          <p:cNvPr id="418" name="Text 11"/>
          <p:cNvSpPr/>
          <p:nvPr/>
        </p:nvSpPr>
        <p:spPr>
          <a:xfrm>
            <a:off x="5382360" y="3566520"/>
            <a:ext cx="386532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Rôle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Software Engineer (backend, systèmes, architecture)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19" name="Text 12"/>
          <p:cNvSpPr/>
          <p:nvPr/>
        </p:nvSpPr>
        <p:spPr>
          <a:xfrm>
            <a:off x="5382360" y="4300200"/>
            <a:ext cx="386532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Cibles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Entreprises tech, startups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20" name="Text 13"/>
          <p:cNvSpPr/>
          <p:nvPr/>
        </p:nvSpPr>
        <p:spPr>
          <a:xfrm>
            <a:off x="5382360" y="4725000"/>
            <a:ext cx="3865320" cy="9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8061ff"/>
                </a:solidFill>
                <a:latin typeface="arial"/>
                <a:ea typeface="arial"/>
              </a:rPr>
              <a:t>Atouts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Solide formation en architecture logicielle, polyvalence technique, multiples secteurs possibles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21" name="Text 14"/>
          <p:cNvSpPr/>
          <p:nvPr/>
        </p:nvSpPr>
        <p:spPr>
          <a:xfrm>
            <a:off x="5382360" y="5767920"/>
            <a:ext cx="386532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Défis : Choisir un secteur d'application aligné avec mes valeurs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22" name="Shape 15"/>
          <p:cNvSpPr/>
          <p:nvPr/>
        </p:nvSpPr>
        <p:spPr>
          <a:xfrm>
            <a:off x="9657000" y="2087640"/>
            <a:ext cx="4297320" cy="4538520"/>
          </a:xfrm>
          <a:prstGeom prst="roundRect">
            <a:avLst>
              <a:gd name="adj" fmla="val 674"/>
            </a:avLst>
          </a:prstGeom>
          <a:solidFill>
            <a:srgbClr val="0c0a33"/>
          </a:solidFill>
          <a:ln w="22860">
            <a:solidFill>
              <a:srgbClr val="4442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3" name="Shape 16"/>
          <p:cNvSpPr/>
          <p:nvPr/>
        </p:nvSpPr>
        <p:spPr>
          <a:xfrm>
            <a:off x="9679680" y="2110320"/>
            <a:ext cx="4251600" cy="578880"/>
          </a:xfrm>
          <a:prstGeom prst="roundRect">
            <a:avLst>
              <a:gd name="adj" fmla="val 265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24" name="Image 2" descr="preencoded.png"/>
          <p:cNvPicPr/>
          <p:nvPr/>
        </p:nvPicPr>
        <p:blipFill>
          <a:blip r:embed="rId3"/>
          <a:stretch/>
        </p:blipFill>
        <p:spPr>
          <a:xfrm>
            <a:off x="11661120" y="2255040"/>
            <a:ext cx="289080" cy="289080"/>
          </a:xfrm>
          <a:prstGeom prst="rect">
            <a:avLst/>
          </a:prstGeom>
          <a:ln w="0">
            <a:noFill/>
          </a:ln>
        </p:spPr>
      </p:pic>
      <p:sp>
        <p:nvSpPr>
          <p:cNvPr id="425" name="Text 17"/>
          <p:cNvSpPr/>
          <p:nvPr/>
        </p:nvSpPr>
        <p:spPr>
          <a:xfrm>
            <a:off x="9872640" y="2882520"/>
            <a:ext cx="2967840" cy="28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1" lang="en-US" sz="1750" spc="-1" strike="noStrike">
                <a:solidFill>
                  <a:srgbClr val="d9e1ff"/>
                </a:solidFill>
                <a:latin typeface="Syne Bold"/>
                <a:ea typeface="Syne Bold"/>
              </a:rPr>
              <a:t>Ingénieur Cybersécurité</a:t>
            </a:r>
            <a:endParaRPr b="0" lang="fr-FR" sz="1750" spc="-1" strike="noStrike">
              <a:latin typeface="Arial"/>
            </a:endParaRPr>
          </a:p>
        </p:txBody>
      </p:sp>
      <p:sp>
        <p:nvSpPr>
          <p:cNvPr id="426" name="Text 18"/>
          <p:cNvSpPr/>
          <p:nvPr/>
        </p:nvSpPr>
        <p:spPr>
          <a:xfrm>
            <a:off x="9872640" y="3282480"/>
            <a:ext cx="386568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Rôle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Security Engineer, SOC (Security Operations Center) Analyst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27" name="Text 19"/>
          <p:cNvSpPr/>
          <p:nvPr/>
        </p:nvSpPr>
        <p:spPr>
          <a:xfrm>
            <a:off x="9872640" y="4016160"/>
            <a:ext cx="386568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Cibles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Cabinets de conseil, SOC, entreprises sensibles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28" name="Text 20"/>
          <p:cNvSpPr/>
          <p:nvPr/>
        </p:nvSpPr>
        <p:spPr>
          <a:xfrm>
            <a:off x="9872640" y="4749840"/>
            <a:ext cx="3865680" cy="92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8061ff"/>
                </a:solidFill>
                <a:latin typeface="arial"/>
                <a:ea typeface="arial"/>
              </a:rPr>
              <a:t>Atouts</a:t>
            </a:r>
            <a:r>
              <a:rPr b="0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 : Secteur en forte demande, rôle stratégique et diversifié, compétences systèmes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29" name="Text 21"/>
          <p:cNvSpPr/>
          <p:nvPr/>
        </p:nvSpPr>
        <p:spPr>
          <a:xfrm>
            <a:off x="9872640" y="5792760"/>
            <a:ext cx="3865680" cy="6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d9e1ff"/>
                </a:solidFill>
                <a:latin typeface="arial"/>
                <a:ea typeface="arial"/>
              </a:rPr>
              <a:t>Défis : Nécessite des certifications supplémentaires spécialisées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30" name="Shape 22"/>
          <p:cNvSpPr/>
          <p:nvPr/>
        </p:nvSpPr>
        <p:spPr>
          <a:xfrm>
            <a:off x="675720" y="6843600"/>
            <a:ext cx="13278600" cy="820080"/>
          </a:xfrm>
          <a:prstGeom prst="roundRect">
            <a:avLst>
              <a:gd name="adj" fmla="val 3531"/>
            </a:avLst>
          </a:prstGeom>
          <a:solidFill>
            <a:srgbClr val="0f0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31" name="Image 3" descr="preencoded.png"/>
          <p:cNvPicPr/>
          <p:nvPr/>
        </p:nvPicPr>
        <p:blipFill>
          <a:blip r:embed="rId4"/>
          <a:stretch/>
        </p:blipFill>
        <p:spPr>
          <a:xfrm>
            <a:off x="868680" y="7137000"/>
            <a:ext cx="240840" cy="192600"/>
          </a:xfrm>
          <a:prstGeom prst="rect">
            <a:avLst/>
          </a:prstGeom>
          <a:ln w="0">
            <a:noFill/>
          </a:ln>
        </p:spPr>
      </p:pic>
      <p:sp>
        <p:nvSpPr>
          <p:cNvPr id="432" name="Text 23"/>
          <p:cNvSpPr/>
          <p:nvPr/>
        </p:nvSpPr>
        <p:spPr>
          <a:xfrm>
            <a:off x="1303200" y="7084800"/>
            <a:ext cx="12458160" cy="30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40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Question ouverte</a:t>
            </a:r>
            <a:r>
              <a:rPr b="0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 : Je trancherai grâce à mes stages, ma césure et mon expérience au Canada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12564000" y="7663680"/>
            <a:ext cx="2030400" cy="529920"/>
          </a:xfrm>
          <a:prstGeom prst="rect">
            <a:avLst/>
          </a:prstGeom>
          <a:solidFill>
            <a:srgbClr val="0c0a33"/>
          </a:solidFill>
          <a:ln w="0">
            <a:solidFill>
              <a:srgbClr val="0c0a33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4630040" cy="2026440"/>
          </a:xfrm>
          <a:prstGeom prst="rect">
            <a:avLst/>
          </a:prstGeom>
          <a:ln w="0">
            <a:noFill/>
          </a:ln>
        </p:spPr>
      </p:pic>
      <p:sp>
        <p:nvSpPr>
          <p:cNvPr id="435" name="Text 0"/>
          <p:cNvSpPr/>
          <p:nvPr/>
        </p:nvSpPr>
        <p:spPr>
          <a:xfrm>
            <a:off x="567360" y="2472840"/>
            <a:ext cx="8782560" cy="47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75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Syne Bold"/>
                <a:ea typeface="Syne Bold"/>
              </a:rPr>
              <a:t>Mobilité Internationale : S'ouvrir au monde</a:t>
            </a:r>
            <a:endParaRPr b="0" lang="fr-FR" sz="3000" spc="-1" strike="noStrike">
              <a:latin typeface="Arial"/>
            </a:endParaRPr>
          </a:p>
        </p:txBody>
      </p:sp>
      <p:pic>
        <p:nvPicPr>
          <p:cNvPr id="436" name="Image 1" descr="preencoded.png"/>
          <p:cNvPicPr/>
          <p:nvPr/>
        </p:nvPicPr>
        <p:blipFill>
          <a:blip r:embed="rId2"/>
          <a:stretch/>
        </p:blipFill>
        <p:spPr>
          <a:xfrm>
            <a:off x="567360" y="3192840"/>
            <a:ext cx="6747480" cy="648000"/>
          </a:xfrm>
          <a:prstGeom prst="rect">
            <a:avLst/>
          </a:prstGeom>
          <a:ln w="0">
            <a:noFill/>
          </a:ln>
        </p:spPr>
      </p:pic>
      <p:sp>
        <p:nvSpPr>
          <p:cNvPr id="437" name="Text 1"/>
          <p:cNvSpPr/>
          <p:nvPr/>
        </p:nvSpPr>
        <p:spPr>
          <a:xfrm>
            <a:off x="729360" y="4003560"/>
            <a:ext cx="190728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5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Césure 2026-2027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38" name="Text 2"/>
          <p:cNvSpPr/>
          <p:nvPr/>
        </p:nvSpPr>
        <p:spPr>
          <a:xfrm>
            <a:off x="729360" y="4339080"/>
            <a:ext cx="64234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6 mois</a:t>
            </a: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 : Stage en entreprise à l'étranger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39" name="Text 3"/>
          <p:cNvSpPr/>
          <p:nvPr/>
        </p:nvSpPr>
        <p:spPr>
          <a:xfrm>
            <a:off x="729360" y="4695840"/>
            <a:ext cx="64234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6 mois</a:t>
            </a: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 : Mission humanitaire à impact social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40" name="Text 4"/>
          <p:cNvSpPr/>
          <p:nvPr/>
        </p:nvSpPr>
        <p:spPr>
          <a:xfrm>
            <a:off x="729360" y="5052600"/>
            <a:ext cx="64234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Développer mon autonomie, acquérir une expérience internationale et perfectionner mon anglais</a:t>
            </a:r>
            <a:endParaRPr b="0" lang="fr-FR" sz="1250" spc="-1" strike="noStrike">
              <a:latin typeface="Arial"/>
            </a:endParaRPr>
          </a:p>
        </p:txBody>
      </p:sp>
      <p:pic>
        <p:nvPicPr>
          <p:cNvPr id="441" name="Image 2" descr="preencoded.png"/>
          <p:cNvPicPr/>
          <p:nvPr/>
        </p:nvPicPr>
        <p:blipFill>
          <a:blip r:embed="rId3"/>
          <a:stretch/>
        </p:blipFill>
        <p:spPr>
          <a:xfrm>
            <a:off x="7315200" y="3192840"/>
            <a:ext cx="6747480" cy="648000"/>
          </a:xfrm>
          <a:prstGeom prst="rect">
            <a:avLst/>
          </a:prstGeom>
          <a:ln w="0">
            <a:noFill/>
          </a:ln>
        </p:spPr>
      </p:pic>
      <p:sp>
        <p:nvSpPr>
          <p:cNvPr id="442" name="Text 5"/>
          <p:cNvSpPr/>
          <p:nvPr/>
        </p:nvSpPr>
        <p:spPr>
          <a:xfrm>
            <a:off x="7477200" y="4003560"/>
            <a:ext cx="28821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5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Erasmus Canada - Fin 2027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43" name="Text 6"/>
          <p:cNvSpPr/>
          <p:nvPr/>
        </p:nvSpPr>
        <p:spPr>
          <a:xfrm>
            <a:off x="7477200" y="4339080"/>
            <a:ext cx="642348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6 mois</a:t>
            </a: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 : Échange académique pendant la 3A (S8)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44" name="Text 7"/>
          <p:cNvSpPr/>
          <p:nvPr/>
        </p:nvSpPr>
        <p:spPr>
          <a:xfrm>
            <a:off x="7477200" y="4695840"/>
            <a:ext cx="6423480" cy="5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Cours avancés en génie logiciel, immersion dans un système universitaire différent et découverte de l'écosystème tech nord-américain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45" name="Shape 8"/>
          <p:cNvSpPr/>
          <p:nvPr/>
        </p:nvSpPr>
        <p:spPr>
          <a:xfrm>
            <a:off x="567360" y="5915880"/>
            <a:ext cx="6666480" cy="1866960"/>
          </a:xfrm>
          <a:prstGeom prst="roundRect">
            <a:avLst>
              <a:gd name="adj" fmla="val 1302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6" name="Text 9"/>
          <p:cNvSpPr/>
          <p:nvPr/>
        </p:nvSpPr>
        <p:spPr>
          <a:xfrm>
            <a:off x="729360" y="6077880"/>
            <a:ext cx="237960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5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Impact sur ma carrière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47" name="Text 10"/>
          <p:cNvSpPr/>
          <p:nvPr/>
        </p:nvSpPr>
        <p:spPr>
          <a:xfrm>
            <a:off x="729360" y="6413400"/>
            <a:ext cx="63421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001"/>
              </a:lnSpc>
              <a:buClr>
                <a:srgbClr val="d9e1f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Élargissement des perspectives professionnelles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48" name="Text 11"/>
          <p:cNvSpPr/>
          <p:nvPr/>
        </p:nvSpPr>
        <p:spPr>
          <a:xfrm>
            <a:off x="729360" y="6729480"/>
            <a:ext cx="63421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001"/>
              </a:lnSpc>
              <a:buClr>
                <a:srgbClr val="d9e1f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Construction d'un réseau international solide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49" name="Text 12"/>
          <p:cNvSpPr/>
          <p:nvPr/>
        </p:nvSpPr>
        <p:spPr>
          <a:xfrm>
            <a:off x="729360" y="7045920"/>
            <a:ext cx="63421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001"/>
              </a:lnSpc>
              <a:buClr>
                <a:srgbClr val="d9e1f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Adaptabilité culturelle et linguistique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50" name="Text 13"/>
          <p:cNvSpPr/>
          <p:nvPr/>
        </p:nvSpPr>
        <p:spPr>
          <a:xfrm>
            <a:off x="729360" y="7362000"/>
            <a:ext cx="6342120" cy="25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marL="343080" indent="-343080">
              <a:lnSpc>
                <a:spcPts val="2001"/>
              </a:lnSpc>
              <a:buClr>
                <a:srgbClr val="d9e1ff"/>
              </a:buClr>
              <a:buFont typeface="Symbol" charset="2"/>
              <a:buChar char=""/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Atout différenciant sur le CV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51" name="Shape 14"/>
          <p:cNvSpPr/>
          <p:nvPr/>
        </p:nvSpPr>
        <p:spPr>
          <a:xfrm>
            <a:off x="7396200" y="5915880"/>
            <a:ext cx="6666480" cy="1866960"/>
          </a:xfrm>
          <a:prstGeom prst="roundRect">
            <a:avLst>
              <a:gd name="adj" fmla="val 1302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2" name="Text 15"/>
          <p:cNvSpPr/>
          <p:nvPr/>
        </p:nvSpPr>
        <p:spPr>
          <a:xfrm>
            <a:off x="7558200" y="6077880"/>
            <a:ext cx="221184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51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Engagement durable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53" name="Text 16"/>
          <p:cNvSpPr/>
          <p:nvPr/>
        </p:nvSpPr>
        <p:spPr>
          <a:xfrm>
            <a:off x="7558200" y="6413400"/>
            <a:ext cx="6342480" cy="77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2001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Empreinte carbone en conformité avec les engagements durables de N7. Mobilité réfléchie et responsable, pour un total d'environ 2t de CO2 pour la césure en Suède et l'échange au Canada.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12564000" y="7782840"/>
            <a:ext cx="2030400" cy="410760"/>
          </a:xfrm>
          <a:prstGeom prst="rect">
            <a:avLst/>
          </a:prstGeom>
          <a:solidFill>
            <a:srgbClr val="0c0a33"/>
          </a:solidFill>
          <a:ln w="0">
            <a:solidFill>
              <a:srgbClr val="0c0a33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Text 0"/>
          <p:cNvSpPr/>
          <p:nvPr/>
        </p:nvSpPr>
        <p:spPr>
          <a:xfrm>
            <a:off x="574560" y="763920"/>
            <a:ext cx="6155280" cy="4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3801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Syne Bold"/>
                <a:ea typeface="Syne Bold"/>
              </a:rPr>
              <a:t>Roadmap : De M1 à Ingénieur</a:t>
            </a:r>
            <a:endParaRPr b="0" lang="fr-FR" sz="3000" spc="-1" strike="noStrike">
              <a:latin typeface="Arial"/>
            </a:endParaRPr>
          </a:p>
        </p:txBody>
      </p:sp>
      <p:sp>
        <p:nvSpPr>
          <p:cNvPr id="456" name="Shape 1"/>
          <p:cNvSpPr/>
          <p:nvPr/>
        </p:nvSpPr>
        <p:spPr>
          <a:xfrm>
            <a:off x="739080" y="1821600"/>
            <a:ext cx="163800" cy="738720"/>
          </a:xfrm>
          <a:prstGeom prst="roundRect">
            <a:avLst>
              <a:gd name="adj" fmla="val 15004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7" name="Shape 2"/>
          <p:cNvSpPr/>
          <p:nvPr/>
        </p:nvSpPr>
        <p:spPr>
          <a:xfrm>
            <a:off x="574560" y="1713960"/>
            <a:ext cx="492480" cy="492480"/>
          </a:xfrm>
          <a:prstGeom prst="roundRect">
            <a:avLst>
              <a:gd name="adj" fmla="val 92798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58" name="Image 0" descr="preencoded.png"/>
          <p:cNvPicPr/>
          <p:nvPr/>
        </p:nvPicPr>
        <p:blipFill>
          <a:blip r:embed="rId1"/>
          <a:stretch/>
        </p:blipFill>
        <p:spPr>
          <a:xfrm>
            <a:off x="697680" y="1836720"/>
            <a:ext cx="245880" cy="245880"/>
          </a:xfrm>
          <a:prstGeom prst="rect">
            <a:avLst/>
          </a:prstGeom>
          <a:ln w="0">
            <a:noFill/>
          </a:ln>
        </p:spPr>
      </p:pic>
      <p:sp>
        <p:nvSpPr>
          <p:cNvPr id="459" name="Text 3"/>
          <p:cNvSpPr/>
          <p:nvPr/>
        </p:nvSpPr>
        <p:spPr>
          <a:xfrm>
            <a:off x="1231560" y="1739520"/>
            <a:ext cx="321444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2025-2026 - M1 (Actuellement)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60" name="Text 4"/>
          <p:cNvSpPr/>
          <p:nvPr/>
        </p:nvSpPr>
        <p:spPr>
          <a:xfrm>
            <a:off x="1231560" y="2079360"/>
            <a:ext cx="1282392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Valider la filière Logiciel et Systèmes (SL) en 2A, continuer les projets techniques personnels, participer à des hackathons comme la Game Jam prévue fin Janvier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61" name="Shape 5"/>
          <p:cNvSpPr/>
          <p:nvPr/>
        </p:nvSpPr>
        <p:spPr>
          <a:xfrm>
            <a:off x="985320" y="2971080"/>
            <a:ext cx="163800" cy="738720"/>
          </a:xfrm>
          <a:prstGeom prst="roundRect">
            <a:avLst>
              <a:gd name="adj" fmla="val 15004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2" name="Shape 6"/>
          <p:cNvSpPr/>
          <p:nvPr/>
        </p:nvSpPr>
        <p:spPr>
          <a:xfrm>
            <a:off x="821160" y="2863440"/>
            <a:ext cx="492480" cy="492480"/>
          </a:xfrm>
          <a:prstGeom prst="roundRect">
            <a:avLst>
              <a:gd name="adj" fmla="val 92798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63" name="Image 1" descr="preencoded.png"/>
          <p:cNvPicPr/>
          <p:nvPr/>
        </p:nvPicPr>
        <p:blipFill>
          <a:blip r:embed="rId2"/>
          <a:stretch/>
        </p:blipFill>
        <p:spPr>
          <a:xfrm>
            <a:off x="944280" y="2986560"/>
            <a:ext cx="245880" cy="245880"/>
          </a:xfrm>
          <a:prstGeom prst="rect">
            <a:avLst/>
          </a:prstGeom>
          <a:ln w="0">
            <a:noFill/>
          </a:ln>
        </p:spPr>
      </p:pic>
      <p:sp>
        <p:nvSpPr>
          <p:cNvPr id="464" name="Text 7"/>
          <p:cNvSpPr/>
          <p:nvPr/>
        </p:nvSpPr>
        <p:spPr>
          <a:xfrm>
            <a:off x="1477800" y="2889000"/>
            <a:ext cx="292428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Été 2026 - Stage Technicien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65" name="Text 8"/>
          <p:cNvSpPr/>
          <p:nvPr/>
        </p:nvSpPr>
        <p:spPr>
          <a:xfrm>
            <a:off x="1477800" y="3228840"/>
            <a:ext cx="1257732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Stage en entreprise de 2 mois pour observer le fonctionnement d'une équipe de développement et acquérir une première expérience professionnelle concrète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66" name="Shape 9"/>
          <p:cNvSpPr/>
          <p:nvPr/>
        </p:nvSpPr>
        <p:spPr>
          <a:xfrm>
            <a:off x="1231560" y="4120920"/>
            <a:ext cx="163800" cy="738720"/>
          </a:xfrm>
          <a:prstGeom prst="roundRect">
            <a:avLst>
              <a:gd name="adj" fmla="val 15004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Shape 10"/>
          <p:cNvSpPr/>
          <p:nvPr/>
        </p:nvSpPr>
        <p:spPr>
          <a:xfrm>
            <a:off x="1067400" y="4012920"/>
            <a:ext cx="492480" cy="492480"/>
          </a:xfrm>
          <a:prstGeom prst="roundRect">
            <a:avLst>
              <a:gd name="adj" fmla="val 92798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68" name="Image 2" descr="preencoded.png"/>
          <p:cNvPicPr/>
          <p:nvPr/>
        </p:nvPicPr>
        <p:blipFill>
          <a:blip r:embed="rId3"/>
          <a:stretch/>
        </p:blipFill>
        <p:spPr>
          <a:xfrm>
            <a:off x="1190520" y="4136040"/>
            <a:ext cx="245880" cy="245880"/>
          </a:xfrm>
          <a:prstGeom prst="rect">
            <a:avLst/>
          </a:prstGeom>
          <a:ln w="0">
            <a:noFill/>
          </a:ln>
        </p:spPr>
      </p:pic>
      <p:sp>
        <p:nvSpPr>
          <p:cNvPr id="469" name="Text 11"/>
          <p:cNvSpPr/>
          <p:nvPr/>
        </p:nvSpPr>
        <p:spPr>
          <a:xfrm>
            <a:off x="1724400" y="4038480"/>
            <a:ext cx="20610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2026-2027 - Césure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70" name="Text 12"/>
          <p:cNvSpPr/>
          <p:nvPr/>
        </p:nvSpPr>
        <p:spPr>
          <a:xfrm>
            <a:off x="1724400" y="4378680"/>
            <a:ext cx="1233108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6 mois de stage en entreprise à l'étranger suivi de 6 mois de mission humanitaire. Développer mon autonomie, mon réseau international et mes soft skills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71" name="Shape 13"/>
          <p:cNvSpPr/>
          <p:nvPr/>
        </p:nvSpPr>
        <p:spPr>
          <a:xfrm>
            <a:off x="1477800" y="5270400"/>
            <a:ext cx="163800" cy="1045080"/>
          </a:xfrm>
          <a:prstGeom prst="roundRect">
            <a:avLst>
              <a:gd name="adj" fmla="val 15004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Shape 14"/>
          <p:cNvSpPr/>
          <p:nvPr/>
        </p:nvSpPr>
        <p:spPr>
          <a:xfrm>
            <a:off x="1313640" y="5162400"/>
            <a:ext cx="492480" cy="492480"/>
          </a:xfrm>
          <a:prstGeom prst="roundRect">
            <a:avLst>
              <a:gd name="adj" fmla="val 92798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73" name="Image 3" descr="preencoded.png"/>
          <p:cNvPicPr/>
          <p:nvPr/>
        </p:nvPicPr>
        <p:blipFill>
          <a:blip r:embed="rId4"/>
          <a:stretch/>
        </p:blipFill>
        <p:spPr>
          <a:xfrm>
            <a:off x="1436760" y="5285520"/>
            <a:ext cx="245880" cy="245880"/>
          </a:xfrm>
          <a:prstGeom prst="rect">
            <a:avLst/>
          </a:prstGeom>
          <a:ln w="0">
            <a:noFill/>
          </a:ln>
        </p:spPr>
      </p:pic>
      <p:sp>
        <p:nvSpPr>
          <p:cNvPr id="474" name="Text 15"/>
          <p:cNvSpPr/>
          <p:nvPr/>
        </p:nvSpPr>
        <p:spPr>
          <a:xfrm>
            <a:off x="1970640" y="5188320"/>
            <a:ext cx="250920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2027-2028 - 3A (Master)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75" name="Text 16"/>
          <p:cNvSpPr/>
          <p:nvPr/>
        </p:nvSpPr>
        <p:spPr>
          <a:xfrm>
            <a:off x="1970640" y="5528160"/>
            <a:ext cx="1208484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Filière Logiciel et Systèmes confirmée, échange au Canada (6 mois), stage de fin d'études 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76" name="Text 17"/>
          <p:cNvSpPr/>
          <p:nvPr/>
        </p:nvSpPr>
        <p:spPr>
          <a:xfrm>
            <a:off x="1970640" y="5889240"/>
            <a:ext cx="1208484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(6 mois). Viser un poste dans l'un de mes 3 plans de carrière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77" name="Shape 18"/>
          <p:cNvSpPr/>
          <p:nvPr/>
        </p:nvSpPr>
        <p:spPr>
          <a:xfrm>
            <a:off x="1231560" y="6726600"/>
            <a:ext cx="163800" cy="738720"/>
          </a:xfrm>
          <a:prstGeom prst="roundRect">
            <a:avLst>
              <a:gd name="adj" fmla="val 15004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8" name="Shape 19"/>
          <p:cNvSpPr/>
          <p:nvPr/>
        </p:nvSpPr>
        <p:spPr>
          <a:xfrm>
            <a:off x="1067400" y="6618600"/>
            <a:ext cx="492480" cy="492480"/>
          </a:xfrm>
          <a:prstGeom prst="roundRect">
            <a:avLst>
              <a:gd name="adj" fmla="val 92798"/>
            </a:avLst>
          </a:prstGeom>
          <a:solidFill>
            <a:srgbClr val="2b29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79" name="Image 4" descr="preencoded.png"/>
          <p:cNvPicPr/>
          <p:nvPr/>
        </p:nvPicPr>
        <p:blipFill>
          <a:blip r:embed="rId5"/>
          <a:stretch/>
        </p:blipFill>
        <p:spPr>
          <a:xfrm>
            <a:off x="1190520" y="6741720"/>
            <a:ext cx="245880" cy="245880"/>
          </a:xfrm>
          <a:prstGeom prst="rect">
            <a:avLst/>
          </a:prstGeom>
          <a:ln w="0">
            <a:noFill/>
          </a:ln>
        </p:spPr>
      </p:pic>
      <p:sp>
        <p:nvSpPr>
          <p:cNvPr id="480" name="Text 20"/>
          <p:cNvSpPr/>
          <p:nvPr/>
        </p:nvSpPr>
        <p:spPr>
          <a:xfrm>
            <a:off x="1724400" y="6644520"/>
            <a:ext cx="2314440" cy="2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d9e1ff"/>
                </a:solidFill>
                <a:latin typeface="Syne Bold"/>
                <a:ea typeface="Syne Bold"/>
              </a:rPr>
              <a:t>2028 - Premier emploi</a:t>
            </a:r>
            <a:endParaRPr b="0" lang="fr-FR" sz="1500" spc="-1" strike="noStrike">
              <a:latin typeface="Arial"/>
            </a:endParaRPr>
          </a:p>
        </p:txBody>
      </p:sp>
      <p:sp>
        <p:nvSpPr>
          <p:cNvPr id="481" name="Text 21"/>
          <p:cNvSpPr/>
          <p:nvPr/>
        </p:nvSpPr>
        <p:spPr>
          <a:xfrm>
            <a:off x="1724400" y="6984360"/>
            <a:ext cx="12331080" cy="2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049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d9e1ff"/>
                </a:solidFill>
                <a:latin typeface="arial"/>
                <a:ea typeface="arial"/>
              </a:rPr>
              <a:t>Ingénieur ENSEEIHT dans l'un des 3 secteurs explorés. Continuer à apprendre, évoluer et développer mon expertise technique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12564000" y="7524000"/>
            <a:ext cx="2030400" cy="669600"/>
          </a:xfrm>
          <a:prstGeom prst="rect">
            <a:avLst/>
          </a:prstGeom>
          <a:solidFill>
            <a:srgbClr val="0c0a33"/>
          </a:solidFill>
          <a:ln w="0">
            <a:solidFill>
              <a:srgbClr val="0c0a33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Text 0"/>
          <p:cNvSpPr/>
          <p:nvPr/>
        </p:nvSpPr>
        <p:spPr>
          <a:xfrm>
            <a:off x="445680" y="349920"/>
            <a:ext cx="61002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2900"/>
              </a:lnSpc>
              <a:buNone/>
              <a:tabLst>
                <a:tab algn="l" pos="0"/>
              </a:tabLst>
            </a:pPr>
            <a:r>
              <a:rPr b="1" lang="en-US" sz="2350" spc="-1" strike="noStrike">
                <a:solidFill>
                  <a:srgbClr val="ffffff"/>
                </a:solidFill>
                <a:latin typeface="Syne Bold"/>
                <a:ea typeface="Syne Bold"/>
              </a:rPr>
              <a:t>Une passion, trois voies, une ambition</a:t>
            </a:r>
            <a:endParaRPr b="0" lang="fr-FR" sz="2350" spc="-1" strike="noStrike">
              <a:latin typeface="Arial"/>
            </a:endParaRPr>
          </a:p>
        </p:txBody>
      </p:sp>
      <p:sp>
        <p:nvSpPr>
          <p:cNvPr id="484" name="Text 1"/>
          <p:cNvSpPr/>
          <p:nvPr/>
        </p:nvSpPr>
        <p:spPr>
          <a:xfrm>
            <a:off x="445680" y="1029960"/>
            <a:ext cx="671400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d9e1ff"/>
                </a:solidFill>
                <a:latin typeface="arial"/>
                <a:ea typeface="arial"/>
              </a:rPr>
              <a:t>Mon parcours depuis Scratch au collège jusqu'à l'ENSEEIHT reflète une passion constante pour l'informatique et la résolution de problèmes complexes.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85" name="Text 2"/>
          <p:cNvSpPr/>
          <p:nvPr/>
        </p:nvSpPr>
        <p:spPr>
          <a:xfrm>
            <a:off x="445680" y="1551600"/>
            <a:ext cx="67140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d9e1ff"/>
                </a:solidFill>
                <a:latin typeface="arial"/>
                <a:ea typeface="arial"/>
              </a:rPr>
              <a:t>J'ai exploré trois plans de carrière complémentaires qui correspondent à mes aspirations professionnelles.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86" name="Text 3"/>
          <p:cNvSpPr/>
          <p:nvPr/>
        </p:nvSpPr>
        <p:spPr>
          <a:xfrm>
            <a:off x="445680" y="1869840"/>
            <a:ext cx="671400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d9e1ff"/>
                </a:solidFill>
                <a:latin typeface="arial"/>
                <a:ea typeface="arial"/>
              </a:rPr>
              <a:t>Mes prochaines expériences — stage, césure et échange au Canada — m'aideront à choisir la voie qui me correspond le mieux et à affiner mon projet professionnel.</a:t>
            </a:r>
            <a:endParaRPr b="0" lang="fr-FR" sz="1000" spc="-1" strike="noStrike">
              <a:latin typeface="Arial"/>
            </a:endParaRPr>
          </a:p>
        </p:txBody>
      </p:sp>
      <p:pic>
        <p:nvPicPr>
          <p:cNvPr id="487" name="Image 0" descr="preencoded.png"/>
          <p:cNvPicPr/>
          <p:nvPr/>
        </p:nvPicPr>
        <p:blipFill>
          <a:blip r:embed="rId1"/>
          <a:stretch/>
        </p:blipFill>
        <p:spPr>
          <a:xfrm>
            <a:off x="7477920" y="1058400"/>
            <a:ext cx="6714000" cy="6714000"/>
          </a:xfrm>
          <a:prstGeom prst="rect">
            <a:avLst/>
          </a:prstGeom>
          <a:ln w="0">
            <a:noFill/>
          </a:ln>
        </p:spPr>
      </p:pic>
      <p:sp>
        <p:nvSpPr>
          <p:cNvPr id="488" name="Text 4"/>
          <p:cNvSpPr/>
          <p:nvPr/>
        </p:nvSpPr>
        <p:spPr>
          <a:xfrm>
            <a:off x="445680" y="8058960"/>
            <a:ext cx="1373904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9" name="Shape 5"/>
          <p:cNvSpPr/>
          <p:nvPr/>
        </p:nvSpPr>
        <p:spPr>
          <a:xfrm>
            <a:off x="445680" y="8469360"/>
            <a:ext cx="13739040" cy="23040"/>
          </a:xfrm>
          <a:prstGeom prst="rect">
            <a:avLst/>
          </a:prstGeom>
          <a:solidFill>
            <a:srgbClr val="d9e1ff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0" name="Text 6"/>
          <p:cNvSpPr/>
          <p:nvPr/>
        </p:nvSpPr>
        <p:spPr>
          <a:xfrm>
            <a:off x="445680" y="8763120"/>
            <a:ext cx="1497240" cy="18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451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Syne Bold"/>
                <a:ea typeface="Syne Bold"/>
              </a:rPr>
              <a:t>Contact</a:t>
            </a:r>
            <a:endParaRPr b="0" lang="fr-FR" sz="1150" spc="-1" strike="noStrike">
              <a:latin typeface="Arial"/>
            </a:endParaRPr>
          </a:p>
        </p:txBody>
      </p:sp>
      <p:sp>
        <p:nvSpPr>
          <p:cNvPr id="491" name="Text 7"/>
          <p:cNvSpPr/>
          <p:nvPr/>
        </p:nvSpPr>
        <p:spPr>
          <a:xfrm>
            <a:off x="445680" y="9077760"/>
            <a:ext cx="67140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d9e1ff"/>
                </a:solidFill>
                <a:latin typeface="arial"/>
                <a:ea typeface="arial"/>
              </a:rPr>
              <a:t>Email</a:t>
            </a:r>
            <a:r>
              <a:rPr b="0" lang="en-US" sz="1000" spc="-1" strike="noStrike">
                <a:solidFill>
                  <a:srgbClr val="d9e1ff"/>
                </a:solidFill>
                <a:latin typeface="arial"/>
                <a:ea typeface="arial"/>
              </a:rPr>
              <a:t> : </a:t>
            </a:r>
            <a:r>
              <a:rPr b="0" lang="en-US" sz="1000" spc="-1" strike="noStrike" u="sng">
                <a:solidFill>
                  <a:srgbClr val="8061ff"/>
                </a:solidFill>
                <a:uFillTx/>
                <a:latin typeface="arial"/>
                <a:ea typeface="arial"/>
                <a:hlinkClick r:id="rId2"/>
              </a:rPr>
              <a:t>lilian.desesquelles@toulouse-inp.fr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92" name="Text 8"/>
          <p:cNvSpPr/>
          <p:nvPr/>
        </p:nvSpPr>
        <p:spPr>
          <a:xfrm>
            <a:off x="445680" y="9395640"/>
            <a:ext cx="67140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d9e1ff"/>
                </a:solidFill>
                <a:latin typeface="arial"/>
                <a:ea typeface="arial"/>
              </a:rPr>
              <a:t>LinkedIn</a:t>
            </a:r>
            <a:r>
              <a:rPr b="0" lang="en-US" sz="1000" spc="-1" strike="noStrike">
                <a:solidFill>
                  <a:srgbClr val="d9e1ff"/>
                </a:solidFill>
                <a:latin typeface="arial"/>
                <a:ea typeface="arial"/>
              </a:rPr>
              <a:t> : Lilian Desesquelles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93" name="Text 9"/>
          <p:cNvSpPr/>
          <p:nvPr/>
        </p:nvSpPr>
        <p:spPr>
          <a:xfrm>
            <a:off x="445680" y="9713880"/>
            <a:ext cx="67140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d9e1ff"/>
                </a:solidFill>
                <a:latin typeface="arial"/>
                <a:ea typeface="arial"/>
              </a:rPr>
              <a:t>ePortfolio</a:t>
            </a:r>
            <a:r>
              <a:rPr b="0" lang="en-US" sz="1000" spc="-1" strike="noStrike">
                <a:solidFill>
                  <a:srgbClr val="d9e1ff"/>
                </a:solidFill>
                <a:latin typeface="arial"/>
                <a:ea typeface="arial"/>
              </a:rPr>
              <a:t> : liliandese.github.io/eportfolio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94" name="Text 10"/>
          <p:cNvSpPr/>
          <p:nvPr/>
        </p:nvSpPr>
        <p:spPr>
          <a:xfrm>
            <a:off x="7477920" y="8750520"/>
            <a:ext cx="67140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8061ff"/>
                </a:solidFill>
                <a:latin typeface="arial"/>
                <a:ea typeface="arial"/>
              </a:rPr>
              <a:t>Merci pour votre attention.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95" name="Text 11"/>
          <p:cNvSpPr/>
          <p:nvPr/>
        </p:nvSpPr>
        <p:spPr>
          <a:xfrm>
            <a:off x="7477920" y="9068760"/>
            <a:ext cx="671400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ts val="1599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d9e1ff"/>
                </a:solidFill>
                <a:latin typeface="arial"/>
                <a:ea typeface="arial"/>
              </a:rPr>
              <a:t>Je suis prêt à répondre à vos questions et à échanger sur mon projet professionnel.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12564000" y="7772400"/>
            <a:ext cx="2030400" cy="421200"/>
          </a:xfrm>
          <a:prstGeom prst="rect">
            <a:avLst/>
          </a:prstGeom>
          <a:solidFill>
            <a:srgbClr val="0c0a33"/>
          </a:solidFill>
          <a:ln w="0">
            <a:solidFill>
              <a:srgbClr val="0c0a33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2026-01-04T20:47:56Z</dcterms:created>
  <dc:creator/>
  <dc:description/>
  <dc:language>fr-FR</dc:language>
  <cp:lastModifiedBy/>
  <dcterms:modified xsi:type="dcterms:W3CDTF">2026-01-04T22:04:22Z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